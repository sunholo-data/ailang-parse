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</p:sldIdLst>
  <p:sldSz cx="9144000" cy="6858000" type="screen4x3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>
      <p:cViewPr varScale="1">
        <p:scale>
          <a:sx n="100" d="100"/>
          <a:sy n="100" d="100"/>
        </p:scale>
        <p:origin x="0" y="0"/>
      </p:cViewPr>
    </p:cSldViewPr>
  </p:slideViewPr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EcoSense: Intelligent Energy Management for Modern Homes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Optimizing comfort, savings, and sustainability through AI.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The Growing Energy Challenge</a:t>
            </a:r>
          </a:p>
        </p:txBody>
      </p:sp>
      <p:sp>
        <p:nvSpPr>
          <p:cNvPr id="3" name="List 3"/>
          <p:cNvSpPr txBox="1"/>
          <p:nvPr/>
        </p:nvSpPr>
        <p:spPr>
          <a:xfrm>
            <a:off x="457200" y="24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• High and unpredictable utility bills impacting household budgets.</a:t>
            </a:r>
          </a:p>
          <a:p>
            <a:r>
              <a:rPr lang="en-US" sz="1800"/>
              <a:t>• Lack of real-time visibility into energy consumption patterns.</a:t>
            </a:r>
          </a:p>
          <a:p>
            <a:r>
              <a:rPr lang="en-US" sz="1800"/>
              <a:t>• Significant wasted energy due to inefficient appliance usage and settings.</a:t>
            </a:r>
          </a:p>
          <a:p>
            <a:r>
              <a:rPr lang="en-US" sz="1800"/>
              <a:t>• Difficulty integrating various smart home devices for holistic energy optimization.</a:t>
            </a:r>
          </a:p>
          <a:p>
            <a:r>
              <a:rPr lang="en-US" sz="1800"/>
              <a:t>• Increasing environmental concerns related to residential energy footprints.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Introducing EcoSense: Your Smart Energy Partner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EcoSense is an AI-powered platform that learns your home's energy patterns, automates optimizations, and provides actionable insights to significantly reduce consumption and costs.</a:t>
            </a:r>
          </a:p>
        </p:txBody>
      </p:sp>
      <p:sp>
        <p:nvSpPr>
          <p:cNvPr id="4" name="List 4"/>
          <p:cNvSpPr txBox="1"/>
          <p:nvPr/>
        </p:nvSpPr>
        <p:spPr>
          <a:xfrm>
            <a:off x="457200" y="36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• AI-Driven Optimization: Intelligently learns usage habits and adjusts settings autonomously for peak efficiency.</a:t>
            </a:r>
          </a:p>
          <a:p>
            <a:r>
              <a:rPr lang="en-US" sz="1800"/>
              <a:t>• Real-time Monitoring &amp; Analytics: Comprehensive dashboard for live energy consumption across all connected devices.</a:t>
            </a:r>
          </a:p>
          <a:p>
            <a:r>
              <a:rPr lang="en-US" sz="1800"/>
              <a:t>• Predictive Cost Forecasting: Anticipates future energy needs and potential costs based on historical data and weather.</a:t>
            </a:r>
          </a:p>
          <a:p>
            <a:r>
              <a:rPr lang="en-US" sz="1800"/>
              <a:t>• Seamless Device Integration: Connects effortlessly with popular smart thermostats, smart plugs, and solar panel systems.</a:t>
            </a:r>
          </a:p>
          <a:p>
            <a:r>
              <a:rPr lang="en-US" sz="1800"/>
              <a:t>• Personalized Savings Reports: Detailed breakdowns of energy reduction, cost savings, and environmental impact.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EcoSense vs. The Competition</a:t>
            </a:r>
          </a:p>
        </p:txBody>
      </p:sp>
      <p:graphicFrame>
        <p:nvGraphicFramePr>
          <p:cNvPr id="3" name="Table 3"/>
          <p:cNvGraphicFramePr>
            <a:graphicFrameLocks noGrp="1"/>
          </p:cNvGraphicFramePr>
          <p:nvPr/>
        </p:nvGraphicFramePr>
        <p:xfrm>
          <a:off x="457200" y="2400000"/>
          <a:ext cx="8229600" cy="1500000"/>
        </p:xfrm>
        <a:graphic>
          <a:graphicData uri="http://schemas.openxmlformats.org/drawingml/2006/table">
            <a:tbl>
              <a:tblPr firstRow="1" bandRow="1"/>
              <a:tblGrid>
                <a:gridCol w="2057400"/>
                <a:gridCol w="2057400"/>
                <a:gridCol w="2057400"/>
                <a:gridCol w="2057400"/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/>
                        <a:t>Feature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EcoSense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Competitor A (Smart Thermostat)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Competitor B (Basic Monitor)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AI-Driven Optimization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Advanced &amp; Holistic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to HVAC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None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Real-time Device Monitoring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Granular, per-device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Aggregate only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Basic, house-wide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Predictive Analytics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Comprehensive, future-focused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No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Multi-device Integration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Extensive (thermostats, plugs, solar)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Proprietary Ecosystem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Limited (via third-party apps)</a:t>
                      </a:r>
                    </a:p>
                  </a:txBody>
                  <a:tcPr/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Average Savings Potential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20-30%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5-10%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/>
                        <a:t>&lt;5%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2"/>
          <p:cNvSpPr txBox="1"/>
          <p:nvPr/>
        </p:nvSpPr>
        <p:spPr>
          <a:xfrm>
            <a:off x="457200" y="1200000"/>
            <a:ext cx="8229600" cy="800000"/>
          </a:xfrm>
          <a:prstGeom prst="rect">
            <a:avLst/>
          </a:prstGeom>
        </p:spPr>
        <p:txBody>
          <a:bodyPr wrap="square" rtlCol="0"/>
          <a:lstStyle/>
          <a:p>
            <a:pPr algn="ctr"/>
            <a:r>
              <a:rPr lang="en-US" sz="2800" b="1"/>
              <a:t>Join the EcoSense Movement</a:t>
            </a:r>
          </a:p>
        </p:txBody>
      </p:sp>
      <p:sp>
        <p:nvSpPr>
          <p:cNvPr id="3" name="Text 3"/>
          <p:cNvSpPr txBox="1"/>
          <p:nvPr/>
        </p:nvSpPr>
        <p:spPr>
          <a:xfrm>
            <a:off x="457200" y="24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We are currently seeking a $1.5M seed round to scale our platform, expand market reach, and further develop our AI capabilities.</a:t>
            </a:r>
          </a:p>
        </p:txBody>
      </p:sp>
      <p:sp>
        <p:nvSpPr>
          <p:cNvPr id="4" name="List 4"/>
          <p:cNvSpPr txBox="1"/>
          <p:nvPr/>
        </p:nvSpPr>
        <p:spPr>
          <a:xfrm>
            <a:off x="457200" y="3600000"/>
            <a:ext cx="8229600" cy="10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• Invest in a sustainable future and a rapidly growing smart home market.</a:t>
            </a:r>
          </a:p>
          <a:p>
            <a:r>
              <a:rPr lang="en-US" sz="1800"/>
              <a:t>• Partner with us to revolutionize home energy management and consumer savings.</a:t>
            </a:r>
          </a:p>
          <a:p>
            <a:r>
              <a:rPr lang="en-US" sz="1800"/>
              <a:t>• Schedule a live demonstration to experience EcoSense firsthand.</a:t>
            </a:r>
          </a:p>
          <a:p>
            <a:r>
              <a:rPr lang="en-US" sz="1800"/>
              <a:t>• Contact us today to learn more about this exciting opportunity.</a:t>
            </a:r>
          </a:p>
        </p:txBody>
      </p:sp>
      <p:sp>
        <p:nvSpPr>
          <p:cNvPr id="5" name="Text 5"/>
          <p:cNvSpPr txBox="1"/>
          <p:nvPr/>
        </p:nvSpPr>
        <p:spPr>
          <a:xfrm>
            <a:off x="457200" y="4800000"/>
            <a:ext cx="8229600" cy="600000"/>
          </a:xfrm>
          <a:prstGeom prst="rect">
            <a:avLst/>
          </a:prstGeom>
        </p:spPr>
        <p:txBody>
          <a:bodyPr wrap="square" rtlCol="0"/>
          <a:lstStyle/>
          <a:p>
            <a:r>
              <a:rPr lang="en-US" sz="1800"/>
              <a:t>Contact: investor@ecosense.com | +1 (555) 123-4567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ILANG Parse">
  <a:themeElements>
    <a:clrScheme name="AILANG Pars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ILANG Parse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AILANG Pars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25400">
          <a:solidFill>
            <a:schemeClr val="phClr"/>
          </a:solidFill>
        </a:ln>
        <a:ln w="3810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